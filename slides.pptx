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D4D4D"/>
                </a:solidFill>
                <a:latin typeface="Microsoft JhengHei"/>
              </a:defRPr>
            </a:pPr>
            <a:r>
              <a:rPr sz="1400" b="0" i="0" u="none" strike="noStrike">
                <a:solidFill>
                  <a:srgbClr val="4D4D4D"/>
                </a:solidFill>
                <a:latin typeface="Microsoft JhengHei"/>
              </a:rPr>
              <a:t>缺牙數 vs 成交率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成交率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 顆</c:v>
                  </c:pt>
                  <c:pt idx="1">
                    <c:v>1-2 顆</c:v>
                  </c:pt>
                  <c:pt idx="2">
                    <c:v>3-4 顆</c:v>
                  </c:pt>
                  <c:pt idx="3">
                    <c:v>5 顆以上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13.7</c:v>
                </c:pt>
                <c:pt idx="1">
                  <c:v>26.4</c:v>
                </c:pt>
                <c:pt idx="2">
                  <c:v>36.9</c:v>
                </c:pt>
                <c:pt idx="3">
                  <c:v>42.1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D4D4D"/>
                </a:solidFill>
                <a:latin typeface="Microsoft JhengHei"/>
              </a:defRPr>
            </a:pPr>
            <a:r>
              <a:rPr sz="1400" b="0" i="0" u="none" strike="noStrike">
                <a:solidFill>
                  <a:srgbClr val="4D4D4D"/>
                </a:solidFill>
                <a:latin typeface="Microsoft JhengHei"/>
              </a:rPr>
              <a:t>依模型分數由高到低分成五等分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成交率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前 20%</c:v>
                  </c:pt>
                  <c:pt idx="1">
                    <c:v>21-40%</c:v>
                  </c:pt>
                  <c:pt idx="2">
                    <c:v>41-60%</c:v>
                  </c:pt>
                  <c:pt idx="3">
                    <c:v>61-80%</c:v>
                  </c:pt>
                  <c:pt idx="4">
                    <c:v>81-100%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50.4</c:v>
                </c:pt>
                <c:pt idx="1">
                  <c:v>27.9</c:v>
                </c:pt>
                <c:pt idx="2">
                  <c:v>22.5</c:v>
                </c:pt>
                <c:pt idx="3">
                  <c:v>10.4</c:v>
                </c:pt>
                <c:pt idx="4">
                  <c:v>10.4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D4D4D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開場。強調：程式碼可以完全略過，只看表格和圖。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問全班：你們現在怎麼決定要跟誰推自費？兩分鐘。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自己就抓到 999。你的工作不是寫程式，是看到 999 會覺得怪。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講慢。之後每一個結果都要跟 25.8% 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這一步還沒有模型，純粹看數字。讓大家先自己講出誰比較會買。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最後那句是通往第 4 步的橋：描述性統計一次只能看一個欄位，所以需要模型。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最後那句是通往第 5 步的橋。不要在這裡就宣告成功。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這一步才發第二個檔案。前面不要給。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本課結論。不要再加東西，停在這裡。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收尾。第三件事是最重要的，其他兩件都只是達成它的前提。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310896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牙科自費傾向模型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3154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MIN  /  NO CODE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148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D9D9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你不會寫任何一行程式。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D9D9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提示詞複製給 AI，它跑程式，我們一起看結果。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今天要解決的問題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1,200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個回診病人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43400" y="1600200"/>
            <a:ext cx="3474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343400" y="1737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個諮詢名額 / 月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600200"/>
            <a:ext cx="3474720" cy="14630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0" y="160020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該找誰？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今天走的路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20482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31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251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認識資料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706624" y="4114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71216" y="3840480"/>
            <a:ext cx="20482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008376" y="3931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008376" y="4251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算出現況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4114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102352" y="3840480"/>
            <a:ext cx="20482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239512" y="3931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4251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描述性統計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168896" y="4114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33488" y="3840480"/>
            <a:ext cx="20482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70648" y="3931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70648" y="4251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建立模型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400032" y="41148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564624" y="3840480"/>
            <a:ext cx="2048256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701784" y="39319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701784" y="42519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驗證可行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120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 → 看資料 → 做方法 → 證明它有效。這是所有資料分析的同一條路。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02336"/>
            <a:ext cx="566928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02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認識這組資料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120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78308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1,206 列 × 15 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perio_depth 缺 55 筆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6 筆完全重複的列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 最大值 = 999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21208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178308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</a:t>
            </a:r>
            <a:endParaRPr lang="en-US" sz="62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788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9D9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牙齒沒有 999 歲的病人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清理後：1,206  →  1,200 列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663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要預測的是 selfpay_next90：未來 90 天有沒有做自費療程（1 / 0）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02336"/>
            <a:ext cx="5669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02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現在做得怎麼樣？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25.8%</a:t>
            </a:r>
            <a:endParaRPr lang="en-US" sz="9600" dirty="0"/>
          </a:p>
        </p:txBody>
      </p:sp>
      <p:sp>
        <p:nvSpPr>
          <p:cNvPr id="6" name="Shape 4"/>
          <p:cNvSpPr/>
          <p:nvPr/>
        </p:nvSpPr>
        <p:spPr>
          <a:xfrm>
            <a:off x="713232" y="3291840"/>
            <a:ext cx="4572000" cy="36576"/>
          </a:xfrm>
          <a:prstGeom prst="rect">
            <a:avLst/>
          </a:prstGeom>
          <a:solidFill>
            <a:srgbClr val="8C8C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3232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9D9D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目前的自費成交率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583680" y="1783080"/>
            <a:ext cx="493776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205740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隨便抓 100 個病人來談，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大概成交 26 個。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526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這是基準線。今天做出來的東西如果贏不過 26%，就沒有價值。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02336"/>
            <a:ext cx="566928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02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誰比較會做自費？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371600"/>
          <a:ext cx="61264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132320" y="1600200"/>
            <a:ext cx="438912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269480" y="163677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163677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成交率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0744200" y="163677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人數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22402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有加 LINE / 沒加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22402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30.5% / 17.9%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0744200" y="22402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754 / 446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132320" y="2752344"/>
            <a:ext cx="43891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69480" y="284378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做過自費 / 沒做過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284378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37.5% / 21.5%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10744200" y="284378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325 / 875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132320" y="3355848"/>
            <a:ext cx="43891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69480" y="344728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醫師 / B 醫師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9189720" y="344728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43.0% / 19.3%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744200" y="344728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263 / 295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132320" y="3959352"/>
            <a:ext cx="43891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69480" y="405079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所得 high / low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40507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35.3% / 19.9%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10744200" y="405079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252 / 357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7132320" y="4562856"/>
            <a:ext cx="43891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269480" y="465429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性別、血型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9189720" y="46542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差距 6pp 以內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10744200" y="465429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132320" y="5166360"/>
            <a:ext cx="438912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32320" y="5257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缺牙 5 顆以上那組只有 38 人 —— 方向可信，數字別當真。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三個觀察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54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缺牙數越多，成交率越高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057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13.7% → 42.1%，一路上升沒有例外。這是臨床需求。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85800" y="2670048"/>
            <a:ext cx="1083564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LINE、做過自費的人明顯較高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這兩個是行為不是病情 —— 也是你改得動的欄位。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85800" y="4041648"/>
            <a:ext cx="1083564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297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醫師之間差兩倍以上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800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醫師 43.0%，B 醫師 19.3%。這不是病人的差異。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85800" y="5413248"/>
            <a:ext cx="10835640" cy="10973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577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問題：一個病人同時有缺牙、有加 LINE、掛 C 醫師 —— 該怎麼一起算？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02336"/>
            <a:ext cx="566928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02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解決方法：評分模型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把所有欄位一起考慮，算出每個病人的成交機率。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486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模型自己算出來的權重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income_area_low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86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-0.94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doctor_C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432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+0.92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income_area_mid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200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missing_teeth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657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+0.42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has_line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past_selfpay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5720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+0.36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1691640"/>
            <a:ext cx="5029200" cy="1691640"/>
          </a:xfrm>
          <a:prstGeom prst="rect">
            <a:avLst/>
          </a:prstGeom>
          <a:solidFill>
            <a:srgbClr val="F0F0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2084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跟第 3 步看到的一樣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22860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模型沒有發現新東西。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它做的是把「加幾分」算出來，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而不是我們用猜的。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3657600"/>
            <a:ext cx="5029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20840" y="3776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丟一個病人進去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20840" y="4160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病人 A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95528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91%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418320" y="41605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病人 B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4114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3%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47091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A：58歲・缺4顆・做過自費・有加LINE・C醫師　　B：28歲・沒缺牙・沒加LINE・常爽約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但現在還不能相信它 —— 它是用這 1,200 個人學出來的，拿同一批人考它等於看著答案考試。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02336"/>
            <a:ext cx="566928" cy="56692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02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402336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驗證：全新 1,200 位病人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模型從來沒看過這批人。基準線 24.3%，AUC 0.724。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645920"/>
          <a:ext cx="67665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719072"/>
            <a:ext cx="3749040" cy="512064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936992" y="17556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依分數排序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17556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成交率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287000" y="17556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倍數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0" y="2286000"/>
            <a:ext cx="3749040" cy="512064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36992" y="23225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100 人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0" y="23225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66.0%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287000" y="232257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2.7x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936992" y="28895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10%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0" y="28895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63.3%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0287000" y="2889504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2.6x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3364992"/>
            <a:ext cx="374904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36992" y="34564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20%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0" y="34564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50.4%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0287000" y="34564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2.1x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772400" y="3931920"/>
            <a:ext cx="374904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36992" y="4023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30%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144000" y="4023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43.3%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0287000" y="4023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1.8x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772400" y="4498848"/>
            <a:ext cx="374904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36992" y="45902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50%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9144000" y="45902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35.8%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10287000" y="459028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1.5x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772400" y="5065776"/>
            <a:ext cx="374904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回到最初的問題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一個月 100 個諮詢名額，該給誰？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212080" cy="2011680"/>
          </a:xfrm>
          <a:prstGeom prst="rect">
            <a:avLst/>
          </a:prstGeom>
          <a:solidFill>
            <a:srgbClr val="1A1A1A"/>
          </a:solidFill>
          <a:ln w="12700">
            <a:solidFill>
              <a:srgbClr val="4D4D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隨機挑 100 人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834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8C8C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件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6309360" y="2194560"/>
            <a:ext cx="5212080" cy="2011680"/>
          </a:xfrm>
          <a:prstGeom prst="rect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8C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照分數挑前 100 人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834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 件</a:t>
            </a:r>
            <a:endParaRPr lang="en-US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模型完全沒看過這批人，挑出來的前 100 個，成交率 66% —— 是隨便挑的 2.7 倍。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這就是「驗證通過」的意思。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今天走過的路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4630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認識並清理資料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4630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1,200 筆乾淨資料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029968"/>
            <a:ext cx="1083564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1214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121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提出問題、算現況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12140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基準線 25.8%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688336"/>
            <a:ext cx="1083564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27797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77977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描述性統計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77977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缺牙、LINE、醫師是關鍵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3346704"/>
            <a:ext cx="1083564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4381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43814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建立評分模型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3814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輸入病人 → 得到機率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005072"/>
            <a:ext cx="1083564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0965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D9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280160" y="4096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用全新病人驗證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409651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100 人命中 66%，2.7 倍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4663440"/>
            <a:ext cx="10835640" cy="7315"/>
          </a:xfrm>
          <a:prstGeom prst="rect">
            <a:avLst/>
          </a:prstGeom>
          <a:solidFill>
            <a:srgbClr val="D9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9377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要記住的三件事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5800" y="5303520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413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先算基準線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68680" y="5733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不知道現在多少，就不知道有沒有進步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43400" y="5303520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26280" y="5413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描述性統計先做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26280" y="5733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模型的結果應該跟你看到的一致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01000" y="5303520"/>
            <a:ext cx="3429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3880" y="5413248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用沒看過的資料驗證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5733288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D4D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用訓練資料評估自己，數字一定好看，而且沒有意義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2026-09-13T16:43:04Z</dcterms:created>
  <dcterms:modified xsi:type="dcterms:W3CDTF">2026-09-13T16:43:04Z</dcterms:modified>
</cp:coreProperties>
</file>